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29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BUSINESS DEVELOPMENT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BD Operating System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turn relationships into intelligence, intelligence into strategy,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strategy into measurable system impact.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137160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569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2286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system, not a toolkit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BD-OS is a designed system architecture that turns scattered activity into strategic capability.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45738" cy="2194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45738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market intelligence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data, referral signals, and field observations become structured, strategic insight.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2978" y="2011680"/>
            <a:ext cx="3545738" cy="2194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22978" y="2011680"/>
            <a:ext cx="3545738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3018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43018" y="28346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activity to outcomes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3018" y="342900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conversation, visit, and report has a traceable place in the chain of system decisions.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7317" y="2011680"/>
            <a:ext cx="3545738" cy="2194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97317" y="2011680"/>
            <a:ext cx="3545738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7357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417357" y="28346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BD as a capability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7357" y="342900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function that runs errands — a system-level capability that makes the organization smarter.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QUESTIONS THE SYSTEM ANSWERS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9834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303520"/>
            <a:ext cx="1493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guides us?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33556" y="49834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33556" y="5303520"/>
            <a:ext cx="1493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know?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18473" y="49834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18473" y="5303520"/>
            <a:ext cx="1493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focus?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389" y="49834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389" y="5303520"/>
            <a:ext cx="1493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engage?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88306" y="49834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88306" y="5303520"/>
            <a:ext cx="1493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emerge?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73222" y="49834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73222" y="5303520"/>
            <a:ext cx="1493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leaders need?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139" y="49834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139" y="5303520"/>
            <a:ext cx="1493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2286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BD Operating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that build on each other, feed each other, and close the loop.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2011680" cy="502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1965960"/>
            <a:ext cx="8351215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1965960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guides us?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02575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before acting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2011680" cy="502920"/>
          </a:xfrm>
          <a:prstGeom prst="rect">
            <a:avLst/>
          </a:prstGeom>
          <a:solidFill>
            <a:srgbClr val="A30000"/>
          </a:solidFill>
          <a:ln w="12700">
            <a:solidFill>
              <a:srgbClr val="A3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2542032"/>
            <a:ext cx="8351215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2542032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we know?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02575" y="2542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market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118104"/>
            <a:ext cx="2011680" cy="502920"/>
          </a:xfrm>
          <a:prstGeom prst="rect">
            <a:avLst/>
          </a:prstGeom>
          <a:solidFill>
            <a:srgbClr val="B80000"/>
          </a:solidFill>
          <a:ln w="12700">
            <a:solidFill>
              <a:srgbClr val="B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118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0" y="3118104"/>
            <a:ext cx="8351215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54680" y="3118104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we focus?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02575" y="31181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hypotheses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694176"/>
            <a:ext cx="201168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6941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3694176"/>
            <a:ext cx="8351215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54680" y="3694176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engage?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02575" y="36941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through engagement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4270248"/>
            <a:ext cx="2011680" cy="502920"/>
          </a:xfrm>
          <a:prstGeom prst="rect">
            <a:avLst/>
          </a:prstGeom>
          <a:solidFill>
            <a:srgbClr val="D62020"/>
          </a:solidFill>
          <a:ln w="12700">
            <a:solidFill>
              <a:srgbClr val="D6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270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26080" y="4270248"/>
            <a:ext cx="8351215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54680" y="4270248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organize?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02575" y="4270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into meaning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4846320"/>
            <a:ext cx="2011680" cy="502920"/>
          </a:xfrm>
          <a:prstGeom prst="rect">
            <a:avLst/>
          </a:prstGeom>
          <a:solidFill>
            <a:srgbClr val="E04040"/>
          </a:solidFill>
          <a:ln w="12700">
            <a:solidFill>
              <a:srgbClr val="E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4846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926080" y="4846320"/>
            <a:ext cx="8351215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54680" y="4846320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communicate?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802575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for decisions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5422392"/>
            <a:ext cx="2011680" cy="502920"/>
          </a:xfrm>
          <a:prstGeom prst="rect">
            <a:avLst/>
          </a:prstGeom>
          <a:solidFill>
            <a:srgbClr val="E86060"/>
          </a:solidFill>
          <a:ln w="12700">
            <a:solidFill>
              <a:srgbClr val="E86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5422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926080" y="5422392"/>
            <a:ext cx="8351215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54680" y="5422392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changed?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02575" y="5422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2057400"/>
            <a:ext cx="0" cy="3867912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5925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03504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OUTCOMES FEED BACK INTO ANALYSIS  —  THE SYSTEM LEARNS ABOUT ITSELF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9202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</a:t>
            </a:r>
            <a:r>
              <a:rPr lang="en-US" sz="15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think and operate?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BD thinks, behaves, and creates value before any tactic, visit, or report. This stage doesn't do the work — it orients the work.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90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900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Toolkit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mindset (not sales, not marketing)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posture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discipline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&amp; coaching frameworks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directories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relationships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5160" y="3337560"/>
            <a:ext cx="4827895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5160" y="3337560"/>
            <a:ext cx="73152" cy="2560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5200" y="3429000"/>
            <a:ext cx="482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5200" y="3749040"/>
            <a:ext cx="4370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 document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clarity framework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Coaching Framework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a Compelling Message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73152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60807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 before acting. Establish trust, intent, and boundaries before “what we do.”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9202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r>
              <a:rPr lang="en-US" sz="15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we know?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experience into insight. Build the most accurate, grounded understanding of the market before proposing action. The output is an incomplete but informed map of reality.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90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900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(quant + qual)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knowledge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ONDT tools &amp;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capability &amp; capacity assessment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and transfer friction points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identification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Boise-style opportunity assessments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5160" y="3337560"/>
            <a:ext cx="4827895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5160" y="3337560"/>
            <a:ext cx="73152" cy="2560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5200" y="3429000"/>
            <a:ext cx="482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5200" y="3749040"/>
            <a:ext cx="4370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Reports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Provider Database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Plans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73152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60807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it's not understood, it can't be planned. Diagnose before proposing.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9202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CO-DESIGN</a:t>
            </a:r>
            <a:r>
              <a:rPr lang="en-US" sz="15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we going to do, and why?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BD's understanding into hypotheses — refined with clinical and operational expertise. The output commits to informed exploration, not predetermined outcomes.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90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900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plans and initiatives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markets, hospitals, clinics, providers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journey and referral pathways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Right-fit acuity analysis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co-authorship with providers and leaders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coaching best practices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Capacity-aware planning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5160" y="3337560"/>
            <a:ext cx="4827895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5160" y="3337560"/>
            <a:ext cx="73152" cy="2560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5200" y="3429000"/>
            <a:ext cx="482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5200" y="3749040"/>
            <a:ext cx="4370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Plan Targets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Databases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Directories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framework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73152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60807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for learning, not just execution. Co-design hypotheses, not answers.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9202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</a:t>
            </a:r>
            <a:r>
              <a:rPr lang="en-US" sz="15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happened, and what did we learn?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hypotheses through disciplined, value-driven engagement. The output is raw truth — stories, signals, friction, momentum — captured honestly enough to inform the system.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90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900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Purposeful connections (never “just checking in”)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articulation of co-authored message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Market-specific conversations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partner capabilities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documentation of wins, issues, opportunities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to explore adjacent targets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explore, don't decide · listen, don't promise · document, don't conclude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5160" y="3337560"/>
            <a:ext cx="4827895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5160" y="3337560"/>
            <a:ext cx="73152" cy="2560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5200" y="3429000"/>
            <a:ext cx="482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5200" y="3749040"/>
            <a:ext cx="4370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Assistant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Plan Targets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Databases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73152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60807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it's not documented well, it didn't happen — and it can't inform the system.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9202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</a:t>
            </a:r>
            <a:r>
              <a:rPr lang="en-US" sz="15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patterns are emerging?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activity into structured insight. Synthesis organizes, distills, and finds patterns — looking across interactions, not just at them.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90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900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across visits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analysis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extraction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clarification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indicators of opportunity or risk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signal from noise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5160" y="3337560"/>
            <a:ext cx="4827895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5160" y="3337560"/>
            <a:ext cx="73152" cy="2560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5200" y="3429000"/>
            <a:ext cx="482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5200" y="3749040"/>
            <a:ext cx="4370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Initiative Reporting Agent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Topic Reporting Agents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Market Reports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Assistant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Reports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73152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60807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doesn't create insight. It reveals what we captured. Poor inputs, poor outputs.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9202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COMMUNICATE</a:t>
            </a:r>
            <a:r>
              <a:rPr lang="en-US" sz="15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and what do we communicate?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right insight in front of the right audience so clarity rises to the surface. Synthesize — don't dump data. Make uncertainty visible and usable.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90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900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BD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system requests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5160" y="3337560"/>
            <a:ext cx="4827895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5160" y="3337560"/>
            <a:ext cx="73152" cy="2560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5200" y="3429000"/>
            <a:ext cx="482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5200" y="3749040"/>
            <a:ext cx="4370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Initiative Reporting Agents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Topic Reporting Agents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Market Reports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Reports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Reports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73152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60807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the system to define the problem more accurately, ask better questions, and develop better solutions.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9202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OF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r>
              <a:rPr lang="en-US" sz="15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·   </a:t>
            </a: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because of our work?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BD-OS is working, leaders make fewer decisions based on assumptions and more decisions grounded in real market behavior. Outcomes feed back into Analysis for the next iteration.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90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900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and market preservation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engage BD as a system resource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replaced with evidence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system strategy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deepen internally and externally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composition of high-acuity patients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referral and transfer pathways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5160" y="3337560"/>
            <a:ext cx="4827895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15160" y="3337560"/>
            <a:ext cx="73152" cy="2560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5200" y="3429000"/>
            <a:ext cx="4827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5200" y="3749040"/>
            <a:ext cx="43706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decisions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shifts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determinations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and grown pipelines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73152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97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60807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closes. Outcomes re-inform analysis. The system gets smarter about itself.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2286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is optional. Each feeds the next, and the last feeds the first.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9428" y="2377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9428" y="2377440"/>
            <a:ext cx="16916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9428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9428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truth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1068" y="23774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69668" y="2377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69668" y="2377440"/>
            <a:ext cx="16916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69668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69668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the truth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1308" y="23774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89908" y="2377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89908" y="2377440"/>
            <a:ext cx="16916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89908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89908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truth visible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1548" y="23774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10148" y="2377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0148" y="2377440"/>
            <a:ext cx="16916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0148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0148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leadership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01788" y="23774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30388" y="2377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30388" y="2377440"/>
            <a:ext cx="16916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30388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Change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30388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shifts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22028" y="23774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50628" y="2377440"/>
            <a:ext cx="1691640" cy="1005840"/>
          </a:xfrm>
          <a:prstGeom prst="rect">
            <a:avLst/>
          </a:prstGeom>
          <a:solidFill>
            <a:srgbClr val="FDECEC"/>
          </a:solidFill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050628" y="2377440"/>
            <a:ext cx="16916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50628" y="2560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50628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Smartsheet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272388" y="3840480"/>
            <a:ext cx="992124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272388" y="3383280"/>
            <a:ext cx="0" cy="45720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193628" y="3383280"/>
            <a:ext cx="0" cy="45720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35228" y="3611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72388" y="388620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closes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800600"/>
            <a:ext cx="5364328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2960" y="4983480"/>
            <a:ext cx="490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5257800"/>
            <a:ext cx="490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see individual tools. They don't see where those tools sit in the chain or what their work feeds next.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78728" y="4800600"/>
            <a:ext cx="536432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78728" y="4800600"/>
            <a:ext cx="73152" cy="12801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53048" y="4983480"/>
            <a:ext cx="490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53048" y="5257800"/>
            <a:ext cx="490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is optional anymore. It's structural. Behavior tells us whether our work actually mattered.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2286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→ Tools → Behavior → Value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 in one view: what each stage demands of us, and what it produces.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TOOLS &amp; FRAMEWORKS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 AT THIS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&amp; VALUE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Orientation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Guiding Principles · Consulting mindset · Role clarity (BD as system capability)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before acting · Establish trust, intent, boundaries · Set expectations around uncertainty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expectations · Credibility and trust · BD understood as partner, not vendor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&amp; referral data · Quant + qual intelligence · Specialty capability/capacity · Boise-style assessments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before proposing · Ask better questions · Resist solutioning early · Name what's known, unknown, assumed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but incomplete market map · Clarity on constraints and risks · Better framing of the real problem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 Coaching Framework · Targeting logic · Hypothesis-based planning · Capacity-aware planning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Co-design hypotheses, not answers · Explore options without committing outcomes · Plan for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outreach hypotheses · Clear rationale for where and why to engage · Agreed success criteria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Crafting a Compelling Message · Provider-to-provider meetings · Education events · Site visits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without promising · Represent the program accurately · Listen more than pitch · Gather real feedback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market signal (interest, friction, confusion) · Strengthened relationships · Trust preserved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Synthesis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Notes Assistant · Initiative Agent · Pattern recognition · Thematic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 activity into meaning · Look across interactions, not just at them · Separate signal from noise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Themes and insights · Early indicators of opportunity or risk · Strategic learning, not activity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 reports · Market &amp; topic briefs · Dashboards · Executive-ready narratives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 reality for decision-makers · Synthesize, don't dump data · Make uncertainty visible and usable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understanding · Confidence in next steps · Reduced rework and misalignment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Outcomes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decisions · Strategy shifts · Resource allocation · Go / No-Go determinations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better system decisions · Support choices, not ownership of outcomes · Close the loop with stakeholders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strategic decisions · Protected pipelines · Sustainable growth aligned with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2286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BD actually does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1645920"/>
          </a:xfrm>
          <a:prstGeom prst="rect">
            <a:avLst/>
          </a:prstGeom>
          <a:solidFill>
            <a:srgbClr val="FBF7F4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91440" cy="1645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turn relationships into intelligence,</a:t>
            </a:r>
            <a:endParaRPr lang="en-US" sz="2200" dirty="0"/>
          </a:p>
          <a:p>
            <a:pPr marL="0" indent="0">
              <a:buNone/>
            </a:pPr>
            <a:r>
              <a:rPr lang="en-US" sz="22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into strategy,</a:t>
            </a:r>
            <a:endParaRPr lang="en-US" sz="2200" dirty="0"/>
          </a:p>
          <a:p>
            <a:pPr marL="0" indent="0">
              <a:buNone/>
            </a:pPr>
            <a:r>
              <a:rPr lang="en-US" sz="22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into action,</a:t>
            </a:r>
            <a:endParaRPr lang="en-US" sz="2200" dirty="0"/>
          </a:p>
          <a:p>
            <a:pPr marL="0" indent="0">
              <a:buNone/>
            </a:pPr>
            <a:r>
              <a:rPr lang="en-US" sz="22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action into measurable system impact.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BD SHOWS UP IN THE OPERATING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669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7315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and ears of the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3931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39319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 +  Execution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669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7315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internal and external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526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45262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 +  Reporting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5669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7315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strategic growth opportunities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5120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5120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 +  Synthesis  +  Outcomes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 is how the system listens at scale.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2286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BD MINDSET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guides, not oracles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incomplete map, honestly drawn, beats a confident map that's wrong.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73152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sees the full system.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in the health system has a partial view. BD's job is to widen the view, not to claim the whole of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73152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understanding.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describe what happened. Relationships reveal why. Both are required — neither is sufficient.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reveal what dashboards can't.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that matters most often comes from the conversation that didn't make it into the spreadsheet.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1920240"/>
            <a:ext cx="4327855" cy="3977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1920240"/>
            <a:ext cx="91440" cy="3977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210312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A GUIDE SAYS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2514600"/>
            <a:ext cx="3870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“Not having the answer yet is not a failure — it's part of the work.”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35240" y="3886200"/>
            <a:ext cx="9144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35240" y="4069080"/>
            <a:ext cx="3870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“This is our analysis — not a statement of fact.”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35240" y="5440680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explore is the most expert thing we can offer a complex system.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2286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548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system is working, then…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3716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</a:t>
            </a: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</a:t>
            </a:r>
            <a:r>
              <a:rPr lang="en-US" sz="26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unprepared.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3716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</a:t>
            </a: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</a:t>
            </a:r>
            <a:r>
              <a:rPr lang="en-US" sz="26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undocumented.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3716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</a:t>
            </a: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</a:t>
            </a:r>
            <a:r>
              <a:rPr lang="en-US" sz="26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wasted.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3716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40233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</a:t>
            </a: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 </a:t>
            </a:r>
            <a:r>
              <a:rPr lang="en-US" sz="26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transactional.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3716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</a:t>
            </a: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</a:t>
            </a:r>
            <a:r>
              <a:rPr lang="en-US" sz="26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made uninformed.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5897880"/>
            <a:ext cx="109728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“the system is working” actually means.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2286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walk out with three things…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15258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part of a system.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do is a one-off. Every connection, report, and follow-up is an input to the next decision the system has to make.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8218" y="1737360"/>
            <a:ext cx="351525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38218" y="1737360"/>
            <a:ext cx="3515258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3978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703978" y="292608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comes from preparation.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3978" y="425196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thorough execution, honest documentation, and reliable follow-through — not from having all the answers.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737360"/>
            <a:ext cx="351525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7797" y="1737360"/>
            <a:ext cx="3515258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93557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493557" y="292608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is to help the system see reality clearly.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93557" y="425196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 be the vehicle for implementing the change that follows. We are how the organization listens at scale.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10048" y="5852160"/>
            <a:ext cx="137160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 is how the system listens at scale.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402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181448" y="3657600"/>
            <a:ext cx="18288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Reflections, pushback, and “what about…” are all welcome.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UTAH HEALTH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6656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Network Development &amp; Telehealth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00b1ec8-83bf-45e8-90eb-840058d55af6}" enabled="1" method="Privileged" siteId="{5217e0e7-539d-4563-b1bf-7c6dcf074f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2096</Words>
  <Application>Microsoft Macintosh PowerPoint</Application>
  <PresentationFormat>Widescreen</PresentationFormat>
  <Paragraphs>390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BD Operating System</dc:title>
  <dc:subject>PptxGenJS Presentation</dc:subject>
  <dc:creator>University of Utah Health — Office of Network Development &amp; Telehealth</dc:creator>
  <cp:lastModifiedBy>Benton Lyons</cp:lastModifiedBy>
  <cp:revision>2</cp:revision>
  <dcterms:created xsi:type="dcterms:W3CDTF">2026-04-20T15:57:13Z</dcterms:created>
  <dcterms:modified xsi:type="dcterms:W3CDTF">2026-04-20T15:58:41Z</dcterms:modified>
</cp:coreProperties>
</file>